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9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10689336"/>
          </a:xfrm>
          <a:prstGeom prst="rect">
            <a:avLst/>
          </a:prstGeom>
          <a:solidFill>
            <a:srgbClr val="F4F8FA"/>
          </a:solidFill>
          <a:ln w="10160">
            <a:solidFill>
              <a:srgbClr val="F4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4176" cy="932688"/>
          </a:xfrm>
          <a:prstGeom prst="rect">
            <a:avLst/>
          </a:prstGeom>
          <a:solidFill>
            <a:srgbClr val="132B3A"/>
          </a:solidFill>
          <a:ln w="10160">
            <a:solidFill>
              <a:srgbClr val="13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146304"/>
            <a:ext cx="8229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90E1DF"/>
                </a:solidFill>
                <a:latin typeface="Arial"/>
              </a:rPr>
              <a:t>GAMBOOZA  / 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402336"/>
            <a:ext cx="10789920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50" b="1">
                <a:solidFill>
                  <a:srgbClr val="FFFFFF"/>
                </a:solidFill>
                <a:latin typeface="Arial"/>
              </a:rPr>
              <a:t>Praxis+   |   Business Model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38328"/>
            <a:ext cx="345643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B2B SaaS  ·  Complemento de la oferta existente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2478755" cy="689457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33856"/>
            <a:ext cx="2478755" cy="365760"/>
          </a:xfrm>
          <a:prstGeom prst="rect">
            <a:avLst/>
          </a:prstGeom>
          <a:solidFill>
            <a:srgbClr val="2D719D"/>
          </a:solidFill>
          <a:ln w="10160">
            <a:solidFill>
              <a:srgbClr val="2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1227124"/>
            <a:ext cx="222272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SOCIOS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9344"/>
            <a:ext cx="2268443" cy="6327648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  <a:defRPr sz="1200">
                <a:solidFill>
                  <a:srgbClr val="273C4C"/>
                </a:solidFill>
                <a:latin typeface="Arial"/>
              </a:defRPr>
            </a:pPr>
            <a:r>
              <a:t>• Gambooza: canal comercial, clientes y cámaras existentes.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200">
                <a:solidFill>
                  <a:srgbClr val="273C4C"/>
                </a:solidFill>
                <a:latin typeface="Arial"/>
              </a:defRPr>
            </a:pPr>
            <a:r>
              <a:t>• Restaurantes piloto y cadenas colaboradoras.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200">
                <a:solidFill>
                  <a:srgbClr val="273C4C"/>
                </a:solidFill>
                <a:latin typeface="Arial"/>
              </a:defRPr>
            </a:pPr>
            <a:r>
              <a:t>• Integradores de TPV y sistemas de inventario.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200">
                <a:solidFill>
                  <a:srgbClr val="273C4C"/>
                </a:solidFill>
                <a:latin typeface="Arial"/>
              </a:defRPr>
            </a:pPr>
            <a:r>
              <a:t>• Proveedores de procesamiento y almacenamiento.</a:t>
            </a:r>
          </a:p>
          <a:p>
            <a:pPr>
              <a:lnSpc>
                <a:spcPct val="112000"/>
              </a:lnSpc>
              <a:spcAft>
                <a:spcPts val="1200"/>
              </a:spcAft>
              <a:defRPr sz="1200">
                <a:solidFill>
                  <a:srgbClr val="273C4C"/>
                </a:solidFill>
                <a:latin typeface="Arial"/>
              </a:defRPr>
            </a:pPr>
            <a:r>
              <a:t>• Asesoría en protección de datos, ámbito laboral e 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5683" y="1133856"/>
            <a:ext cx="2478755" cy="33924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45683" y="1133856"/>
            <a:ext cx="2478755" cy="365760"/>
          </a:xfrm>
          <a:prstGeom prst="rect">
            <a:avLst/>
          </a:prstGeom>
          <a:solidFill>
            <a:srgbClr val="087D86"/>
          </a:solidFill>
          <a:ln w="10160">
            <a:solidFill>
              <a:srgbClr val="08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3699" y="1227124"/>
            <a:ext cx="222272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ACTIVIDADES CLAVE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4555" y="1609344"/>
            <a:ext cx="2268443" cy="2825496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Clasificar</a:t>
            </a:r>
            <a:r>
              <a:rPr dirty="0"/>
              <a:t>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Transformar</a:t>
            </a:r>
            <a:r>
              <a:rPr dirty="0"/>
              <a:t> </a:t>
            </a:r>
            <a:r>
              <a:rPr dirty="0" err="1"/>
              <a:t>incidencias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acciones</a:t>
            </a:r>
            <a:r>
              <a:rPr dirty="0"/>
              <a:t> de </a:t>
            </a:r>
            <a:r>
              <a:rPr dirty="0" err="1"/>
              <a:t>mejora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ahorros</a:t>
            </a:r>
            <a:r>
              <a:rPr dirty="0"/>
              <a:t> con </a:t>
            </a:r>
            <a:r>
              <a:rPr dirty="0" err="1"/>
              <a:t>inventario</a:t>
            </a:r>
            <a:r>
              <a:rPr dirty="0"/>
              <a:t> y </a:t>
            </a:r>
            <a:r>
              <a:rPr dirty="0" err="1"/>
              <a:t>ventas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Mantener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 y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5683" y="4636008"/>
            <a:ext cx="2478755" cy="33924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45683" y="4636008"/>
            <a:ext cx="2478755" cy="365760"/>
          </a:xfrm>
          <a:prstGeom prst="rect">
            <a:avLst/>
          </a:prstGeom>
          <a:solidFill>
            <a:srgbClr val="2D719D"/>
          </a:solidFill>
          <a:ln w="10160">
            <a:solidFill>
              <a:srgbClr val="2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73699" y="4729276"/>
            <a:ext cx="222272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RECURSOS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4555" y="5111496"/>
            <a:ext cx="2268443" cy="2825496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Modelo de IA y </a:t>
            </a:r>
            <a:r>
              <a:rPr dirty="0" err="1"/>
              <a:t>vídeos</a:t>
            </a:r>
            <a:r>
              <a:rPr dirty="0"/>
              <a:t> </a:t>
            </a:r>
            <a:r>
              <a:rPr dirty="0" err="1"/>
              <a:t>etiquetados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Cámaras</a:t>
            </a:r>
            <a:r>
              <a:rPr dirty="0"/>
              <a:t> y </a:t>
            </a:r>
            <a:r>
              <a:rPr dirty="0" err="1"/>
              <a:t>plataforma</a:t>
            </a:r>
            <a:r>
              <a:rPr dirty="0"/>
              <a:t> de </a:t>
            </a:r>
            <a:r>
              <a:rPr dirty="0" err="1"/>
              <a:t>Gambooza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Integraciones</a:t>
            </a:r>
            <a:r>
              <a:rPr dirty="0"/>
              <a:t> con TPV e </a:t>
            </a:r>
            <a:r>
              <a:rPr dirty="0" err="1"/>
              <a:t>inventario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919"/>
              </a:spcAft>
              <a:defRPr sz="1160">
                <a:solidFill>
                  <a:srgbClr val="273C4C"/>
                </a:solidFill>
                <a:latin typeface="Arial"/>
              </a:defRPr>
            </a:pPr>
            <a:r>
              <a:rPr dirty="0"/>
              <a:t>• Equipo </a:t>
            </a:r>
            <a:r>
              <a:rPr dirty="0" err="1"/>
              <a:t>técnico</a:t>
            </a:r>
            <a:r>
              <a:rPr dirty="0"/>
              <a:t>, </a:t>
            </a:r>
            <a:r>
              <a:rPr dirty="0" err="1"/>
              <a:t>comercial</a:t>
            </a:r>
            <a:r>
              <a:rPr dirty="0"/>
              <a:t> y de </a:t>
            </a:r>
            <a:r>
              <a:rPr dirty="0" err="1"/>
              <a:t>soporte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4167" y="1133856"/>
            <a:ext cx="3029590" cy="689457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34167" y="1133856"/>
            <a:ext cx="3029590" cy="365760"/>
          </a:xfrm>
          <a:prstGeom prst="rect">
            <a:avLst/>
          </a:prstGeom>
          <a:solidFill>
            <a:srgbClr val="087D86"/>
          </a:solidFill>
          <a:ln w="10160">
            <a:solidFill>
              <a:srgbClr val="08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2183" y="1227124"/>
            <a:ext cx="277355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PROPUESTA DE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3039" y="1609344"/>
            <a:ext cx="2819278" cy="4102790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mermas</a:t>
            </a:r>
            <a:r>
              <a:rPr dirty="0"/>
              <a:t> y </a:t>
            </a:r>
            <a:r>
              <a:rPr dirty="0" err="1"/>
              <a:t>pérdidas</a:t>
            </a:r>
            <a:r>
              <a:rPr dirty="0"/>
              <a:t> </a:t>
            </a:r>
            <a:r>
              <a:rPr dirty="0" err="1"/>
              <a:t>operativas</a:t>
            </a:r>
            <a:r>
              <a:rPr dirty="0"/>
              <a:t> </a:t>
            </a:r>
            <a:r>
              <a:rPr dirty="0" err="1"/>
              <a:t>demostrables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Clasificar</a:t>
            </a:r>
            <a:r>
              <a:rPr dirty="0"/>
              <a:t> </a:t>
            </a:r>
            <a:r>
              <a:rPr dirty="0" err="1"/>
              <a:t>siete</a:t>
            </a:r>
            <a:r>
              <a:rPr dirty="0"/>
              <a:t> malas praxis y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normales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Aportar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visual para </a:t>
            </a:r>
            <a:r>
              <a:rPr dirty="0" err="1"/>
              <a:t>revisión</a:t>
            </a:r>
            <a:r>
              <a:rPr dirty="0"/>
              <a:t> humana.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grifo</a:t>
            </a:r>
            <a:r>
              <a:rPr dirty="0"/>
              <a:t>, local, </a:t>
            </a:r>
            <a:r>
              <a:rPr dirty="0" err="1"/>
              <a:t>horario</a:t>
            </a:r>
            <a:r>
              <a:rPr dirty="0"/>
              <a:t> y </a:t>
            </a:r>
            <a:r>
              <a:rPr dirty="0" err="1"/>
              <a:t>categoría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las </a:t>
            </a:r>
            <a:r>
              <a:rPr dirty="0" err="1"/>
              <a:t>correcciones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Distinguir</a:t>
            </a:r>
            <a:r>
              <a:rPr dirty="0"/>
              <a:t> </a:t>
            </a:r>
            <a:r>
              <a:rPr lang="es-ES" dirty="0"/>
              <a:t>el </a:t>
            </a:r>
            <a:r>
              <a:rPr dirty="0" err="1"/>
              <a:t>ahorro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 d</a:t>
            </a:r>
            <a:r>
              <a:rPr lang="es-ES" dirty="0"/>
              <a:t>el</a:t>
            </a:r>
            <a:r>
              <a:rPr dirty="0"/>
              <a:t> </a:t>
            </a:r>
            <a:r>
              <a:rPr dirty="0" err="1"/>
              <a:t>ahorro</a:t>
            </a:r>
            <a:r>
              <a:rPr dirty="0"/>
              <a:t> </a:t>
            </a:r>
            <a:r>
              <a:rPr dirty="0" err="1"/>
              <a:t>verificado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50"/>
              </a:spcAft>
              <a:defRPr sz="121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Aprovechar</a:t>
            </a:r>
            <a:r>
              <a:rPr dirty="0"/>
              <a:t>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instalada</a:t>
            </a:r>
            <a:r>
              <a:rPr dirty="0"/>
              <a:t>; sin </a:t>
            </a:r>
            <a:r>
              <a:rPr dirty="0" err="1"/>
              <a:t>sanciones</a:t>
            </a:r>
            <a:r>
              <a:rPr dirty="0"/>
              <a:t> </a:t>
            </a:r>
            <a:r>
              <a:rPr dirty="0" err="1"/>
              <a:t>automáticas</a:t>
            </a:r>
            <a:r>
              <a:rPr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3485" y="1133856"/>
            <a:ext cx="2478755" cy="33924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3485" y="1133856"/>
            <a:ext cx="2478755" cy="365760"/>
          </a:xfrm>
          <a:prstGeom prst="rect">
            <a:avLst/>
          </a:prstGeom>
          <a:solidFill>
            <a:srgbClr val="2D719D"/>
          </a:solidFill>
          <a:ln w="10160">
            <a:solidFill>
              <a:srgbClr val="2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01501" y="1227124"/>
            <a:ext cx="222272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RELACIÓN CON CLIENTES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2357" y="1609344"/>
            <a:ext cx="2268443" cy="2825496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rPr dirty="0"/>
              <a:t>• Piloto y </a:t>
            </a:r>
            <a:r>
              <a:rPr dirty="0" err="1"/>
              <a:t>diagnóstico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Puesta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marcha</a:t>
            </a:r>
            <a:r>
              <a:rPr dirty="0"/>
              <a:t> </a:t>
            </a:r>
            <a:r>
              <a:rPr dirty="0" err="1"/>
              <a:t>acompañada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Informes</a:t>
            </a:r>
            <a:r>
              <a:rPr dirty="0"/>
              <a:t> </a:t>
            </a:r>
            <a:r>
              <a:rPr dirty="0" err="1"/>
              <a:t>semanales</a:t>
            </a:r>
            <a:r>
              <a:rPr dirty="0"/>
              <a:t> y </a:t>
            </a:r>
            <a:r>
              <a:rPr dirty="0" err="1"/>
              <a:t>recomendaciones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Soporte</a:t>
            </a:r>
            <a:r>
              <a:rPr dirty="0"/>
              <a:t> y </a:t>
            </a:r>
            <a:r>
              <a:rPr dirty="0" err="1"/>
              <a:t>revisión</a:t>
            </a:r>
            <a:r>
              <a:rPr dirty="0"/>
              <a:t> </a:t>
            </a:r>
            <a:r>
              <a:rPr dirty="0" err="1"/>
              <a:t>periódica</a:t>
            </a:r>
            <a:r>
              <a:rPr dirty="0"/>
              <a:t> del </a:t>
            </a:r>
            <a:r>
              <a:rPr dirty="0" err="1"/>
              <a:t>impacto</a:t>
            </a:r>
            <a:r>
              <a:rPr dirty="0"/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3485" y="4636008"/>
            <a:ext cx="2478755" cy="33924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3485" y="4636008"/>
            <a:ext cx="2478755" cy="365760"/>
          </a:xfrm>
          <a:prstGeom prst="rect">
            <a:avLst/>
          </a:prstGeom>
          <a:solidFill>
            <a:srgbClr val="087D86"/>
          </a:solidFill>
          <a:ln w="10160">
            <a:solidFill>
              <a:srgbClr val="08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01501" y="4729276"/>
            <a:ext cx="2222723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CANALES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2357" y="5111496"/>
            <a:ext cx="2268443" cy="2825496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t>• Venta adicional a clientes de Gambooza.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t>• Demostraciones y pilotos con retorno medible.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t>• Panel, app y reportes del gerente.</a:t>
            </a:r>
          </a:p>
          <a:p>
            <a:pPr>
              <a:lnSpc>
                <a:spcPct val="112000"/>
              </a:lnSpc>
              <a:spcAft>
                <a:spcPts val="1000"/>
              </a:spcAft>
              <a:defRPr sz="1170">
                <a:solidFill>
                  <a:srgbClr val="273C4C"/>
                </a:solidFill>
                <a:latin typeface="Arial"/>
              </a:defRPr>
            </a:pPr>
            <a:r>
              <a:t>• Acuerdos comerciales con cadenas horeca.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61968" y="1133856"/>
            <a:ext cx="3305007" cy="689457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361968" y="1133856"/>
            <a:ext cx="3305007" cy="365760"/>
          </a:xfrm>
          <a:prstGeom prst="rect">
            <a:avLst/>
          </a:prstGeom>
          <a:solidFill>
            <a:srgbClr val="2D719D"/>
          </a:solidFill>
          <a:ln w="10160">
            <a:solidFill>
              <a:srgbClr val="2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89984" y="1227124"/>
            <a:ext cx="3048975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SEGMENTOS DE CLIENTES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80840" y="1609344"/>
            <a:ext cx="3094695" cy="6327648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Pagador: </a:t>
            </a:r>
            <a:r>
              <a:rPr dirty="0" err="1"/>
              <a:t>propietario</a:t>
            </a:r>
            <a:r>
              <a:rPr dirty="0"/>
              <a:t> o </a:t>
            </a:r>
            <a:r>
              <a:rPr dirty="0" err="1"/>
              <a:t>responsable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Usuario</a:t>
            </a:r>
            <a:r>
              <a:rPr dirty="0"/>
              <a:t>: </a:t>
            </a:r>
            <a:r>
              <a:rPr dirty="0" err="1"/>
              <a:t>gerente</a:t>
            </a:r>
            <a:r>
              <a:rPr dirty="0"/>
              <a:t> y </a:t>
            </a:r>
            <a:r>
              <a:rPr dirty="0" err="1"/>
              <a:t>equipo</a:t>
            </a:r>
            <a:r>
              <a:rPr dirty="0"/>
              <a:t> de </a:t>
            </a:r>
            <a:r>
              <a:rPr dirty="0" err="1"/>
              <a:t>explotación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Prioridad</a:t>
            </a:r>
            <a:r>
              <a:rPr dirty="0"/>
              <a:t>: locales con cerveza de </a:t>
            </a:r>
            <a:r>
              <a:rPr dirty="0" err="1"/>
              <a:t>barril</a:t>
            </a:r>
            <a:r>
              <a:rPr dirty="0"/>
              <a:t> y alto </a:t>
            </a:r>
            <a:r>
              <a:rPr dirty="0" err="1"/>
              <a:t>volumen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Adopción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: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actuales</a:t>
            </a:r>
            <a:r>
              <a:rPr dirty="0"/>
              <a:t> de </a:t>
            </a:r>
            <a:r>
              <a:rPr dirty="0" err="1"/>
              <a:t>Gambooza</a:t>
            </a:r>
            <a:r>
              <a:rPr dirty="0"/>
              <a:t>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Expansión</a:t>
            </a:r>
            <a:r>
              <a:rPr dirty="0"/>
              <a:t>: </a:t>
            </a:r>
            <a:r>
              <a:rPr dirty="0" err="1"/>
              <a:t>cadenas</a:t>
            </a:r>
            <a:r>
              <a:rPr dirty="0"/>
              <a:t> y </a:t>
            </a:r>
            <a:r>
              <a:rPr dirty="0" err="1"/>
              <a:t>franquicias</a:t>
            </a:r>
            <a:r>
              <a:rPr dirty="0"/>
              <a:t> con </a:t>
            </a:r>
            <a:r>
              <a:rPr dirty="0" err="1"/>
              <a:t>varias</a:t>
            </a:r>
            <a:r>
              <a:rPr dirty="0"/>
              <a:t> barras.</a:t>
            </a:r>
          </a:p>
          <a:p>
            <a:pPr>
              <a:lnSpc>
                <a:spcPct val="112000"/>
              </a:lnSpc>
              <a:spcAft>
                <a:spcPts val="1400"/>
              </a:spcAft>
              <a:defRPr sz="1230">
                <a:solidFill>
                  <a:srgbClr val="273C4C"/>
                </a:solidFill>
                <a:latin typeface="Arial"/>
              </a:defRPr>
            </a:pPr>
            <a:r>
              <a:rPr dirty="0"/>
              <a:t>• Valor especial: control </a:t>
            </a:r>
            <a:r>
              <a:rPr dirty="0" err="1"/>
              <a:t>homogéneo</a:t>
            </a:r>
            <a:r>
              <a:rPr dirty="0"/>
              <a:t> entre </a:t>
            </a:r>
            <a:r>
              <a:rPr dirty="0" err="1"/>
              <a:t>establecimientos</a:t>
            </a:r>
            <a:r>
              <a:rPr dirty="0"/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8156448"/>
            <a:ext cx="7050024" cy="204825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8156448"/>
            <a:ext cx="7050024" cy="365760"/>
          </a:xfrm>
          <a:prstGeom prst="rect">
            <a:avLst/>
          </a:prstGeom>
          <a:solidFill>
            <a:srgbClr val="A76627"/>
          </a:solidFill>
          <a:ln w="10160">
            <a:solidFill>
              <a:srgbClr val="A76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8249716"/>
            <a:ext cx="6793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ESTRUCTURA DE COSTES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8631936"/>
            <a:ext cx="6839712" cy="1481328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Variables: procesamiento de vídeo, almacenamiento, soporte y revisión.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Fijos: desarrollo, etiquetado, integración, mantenimiento y cumplimiento.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Escalabilidad: aprovechar las cámaras instaladas reduce inversión inicial.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16952" y="8156448"/>
            <a:ext cx="7050024" cy="204825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DB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16952" y="8156448"/>
            <a:ext cx="7050024" cy="365760"/>
          </a:xfrm>
          <a:prstGeom prst="rect">
            <a:avLst/>
          </a:prstGeom>
          <a:solidFill>
            <a:srgbClr val="A76627"/>
          </a:solidFill>
          <a:ln w="10160">
            <a:solidFill>
              <a:srgbClr val="A76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44968" y="8249716"/>
            <a:ext cx="6793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Arial"/>
              </a:rPr>
              <a:t>FUENTES DE INGRESOS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8631936"/>
            <a:ext cx="6839712" cy="1481328"/>
          </a:xfrm>
          <a:prstGeom prst="rect">
            <a:avLst/>
          </a:prstGeom>
          <a:noFill/>
        </p:spPr>
        <p:txBody>
          <a:bodyPr wrap="square" lIns="32004" tIns="36576" rIns="41148" bIns="9144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Módulo SaaS propuesto: 49 €/local/mes.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Tarifa para cadenas de 10+ locales: 39 €/local/mes.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Configuración especial opcional: 99 €/local.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115">
                <a:solidFill>
                  <a:srgbClr val="273C4C"/>
                </a:solidFill>
                <a:latin typeface="Arial"/>
              </a:defRPr>
            </a:pPr>
            <a:r>
              <a:t>• Precios hipotéticos pendientes de validación con Gambooza.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0305288"/>
            <a:ext cx="10881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>
                <a:solidFill>
                  <a:srgbClr val="617584"/>
                </a:solidFill>
                <a:latin typeface="Arial"/>
              </a:rPr>
              <a:t>Distribución clásica del Business Model Canvas: los bloques se agrupan por su función, no por numeración consecutiva.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95760" y="10305288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90" b="0">
                <a:solidFill>
                  <a:srgbClr val="617584"/>
                </a:solidFill>
                <a:latin typeface="Arial"/>
              </a:rPr>
              <a:t>Precios e impactos sujetos a validación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440</Words>
  <Application>Microsoft Office PowerPoint</Application>
  <PresentationFormat>Personalizado</PresentationFormat>
  <Paragraphs>55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Gambooza Praxis+ | Business Model Canvas editable</dc:title>
  <dc:subject>Canvas de 9 bloques, orden visual estándar y guía de lectura secuencial</dc:subject>
  <dc:creator>Equipo Gambooza Praxis+</dc:creator>
  <cp:keywords/>
  <dc:description>generated using python-pptx</dc:description>
  <cp:lastModifiedBy>Diego Rivera Poyo</cp:lastModifiedBy>
  <cp:revision>3</cp:revision>
  <dcterms:created xsi:type="dcterms:W3CDTF">2013-01-27T09:14:16Z</dcterms:created>
  <dcterms:modified xsi:type="dcterms:W3CDTF">2026-10-21T15:03:18Z</dcterms:modified>
  <cp:category/>
</cp:coreProperties>
</file>